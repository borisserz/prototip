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320040" cy="41148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011680"/>
            <a:ext cx="228600" cy="29260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  <a:latin typeface="Arial"/>
              </a:defRPr>
            </a:pPr>
            <a:r>
              <a:t>BI-аналитика налогов РБ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505050"/>
                </a:solidFill>
                <a:latin typeface="Arial"/>
              </a:defRPr>
            </a:pPr>
            <a:r>
              <a:t>Синтетические данные (демо), Республика Беларусь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57784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Arial"/>
              </a:defRPr>
            </a:pPr>
            <a:r>
              <a:t>06.06.2026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9646920" y="109728"/>
            <a:ext cx="2148840" cy="347472"/>
          </a:xfrm>
          <a:prstGeom prst="rect">
            <a:avLst/>
          </a:prstGeom>
          <a:solidFill>
            <a:srgbClr val="EBEBEB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>
                <a:solidFill>
                  <a:srgbClr val="8C1E1E"/>
                </a:solidFill>
                <a:latin typeface="Arial"/>
              </a:defRPr>
            </a:pPr>
            <a:r>
              <a:t>ДЛЯ СЛУЖЕБНОГО ПОЛЬЗОВАНИЯ | AI DRAFT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808080"/>
                </a:solidFill>
                <a:latin typeface="Arial"/>
              </a:defRPr>
            </a:pPr>
            <a:r>
              <a:t>Источник: Синтетические данные (демо), Республика Беларусь | prototip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873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366"/>
                </a:solidFill>
                <a:latin typeface="Arial"/>
              </a:defRPr>
            </a:pPr>
            <a:r>
              <a:t>Обзор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777240"/>
            <a:ext cx="1136873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05840"/>
            <a:ext cx="1136873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05050"/>
                </a:solidFill>
                <a:latin typeface="Arial"/>
              </a:defRPr>
            </a:pPr>
            <a:r>
              <a:t>Аналитический обзор задолженности, штрафов и пеней по регионам РБ. Акцент на рейтинговых диаграммах и табличных сводках для руководства.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3200400"/>
            <a:ext cx="2739313" cy="1280160"/>
          </a:xfrm>
          <a:prstGeom prst="rect">
            <a:avLst/>
          </a:prstGeom>
          <a:solidFill>
            <a:srgbClr val="F5F7FA"/>
          </a:solidFill>
          <a:ln w="9525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8" y="3310128"/>
            <a:ext cx="2519857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05050"/>
                </a:solidFill>
                <a:latin typeface="Arial"/>
              </a:defRPr>
            </a:pPr>
            <a:r>
              <a:t>Суммарные начисления</a:t>
            </a:r>
          </a:p>
          <a:p>
            <a:pPr>
              <a:spcBef>
                <a:spcPts val="400"/>
              </a:spcBef>
              <a:defRPr sz="2000" b="1">
                <a:solidFill>
                  <a:srgbClr val="003366"/>
                </a:solidFill>
                <a:latin typeface="Arial"/>
              </a:defRPr>
            </a:pPr>
            <a:r>
              <a:t>180,9 млрд Br</a:t>
            </a:r>
          </a:p>
        </p:txBody>
      </p:sp>
      <p:sp>
        <p:nvSpPr>
          <p:cNvPr id="7" name="Rectangle 6"/>
          <p:cNvSpPr/>
          <p:nvPr/>
        </p:nvSpPr>
        <p:spPr>
          <a:xfrm>
            <a:off x="3287953" y="3200400"/>
            <a:ext cx="2739313" cy="1280160"/>
          </a:xfrm>
          <a:prstGeom prst="rect">
            <a:avLst/>
          </a:prstGeom>
          <a:solidFill>
            <a:srgbClr val="F5F7FA"/>
          </a:solidFill>
          <a:ln w="9525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97681" y="3310128"/>
            <a:ext cx="2519857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05050"/>
                </a:solidFill>
                <a:latin typeface="Arial"/>
              </a:defRPr>
            </a:pPr>
            <a:r>
              <a:t>Общая задолженность</a:t>
            </a:r>
          </a:p>
          <a:p>
            <a:pPr>
              <a:spcBef>
                <a:spcPts val="400"/>
              </a:spcBef>
              <a:defRPr sz="2000" b="1">
                <a:solidFill>
                  <a:srgbClr val="003366"/>
                </a:solidFill>
                <a:latin typeface="Arial"/>
              </a:defRPr>
            </a:pPr>
            <a:r>
              <a:t>39,9 млрд Br</a:t>
            </a:r>
          </a:p>
        </p:txBody>
      </p:sp>
      <p:sp>
        <p:nvSpPr>
          <p:cNvPr id="9" name="Rectangle 8"/>
          <p:cNvSpPr/>
          <p:nvPr/>
        </p:nvSpPr>
        <p:spPr>
          <a:xfrm>
            <a:off x="6164427" y="3200400"/>
            <a:ext cx="2739313" cy="1280160"/>
          </a:xfrm>
          <a:prstGeom prst="rect">
            <a:avLst/>
          </a:prstGeom>
          <a:solidFill>
            <a:srgbClr val="F5F7FA"/>
          </a:solidFill>
          <a:ln w="9525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74155" y="3310128"/>
            <a:ext cx="2519857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05050"/>
                </a:solidFill>
                <a:latin typeface="Arial"/>
              </a:defRPr>
            </a:pPr>
            <a:r>
              <a:t>Регионов в выборке</a:t>
            </a:r>
          </a:p>
          <a:p>
            <a:pPr>
              <a:spcBef>
                <a:spcPts val="400"/>
              </a:spcBef>
              <a:defRPr sz="2000" b="1">
                <a:solidFill>
                  <a:srgbClr val="003366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40901" y="3200400"/>
            <a:ext cx="2739313" cy="1280160"/>
          </a:xfrm>
          <a:prstGeom prst="rect">
            <a:avLst/>
          </a:prstGeom>
          <a:solidFill>
            <a:srgbClr val="F5F7FA"/>
          </a:solidFill>
          <a:ln w="9525"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50629" y="3310128"/>
            <a:ext cx="2519857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05050"/>
                </a:solidFill>
                <a:latin typeface="Arial"/>
              </a:defRPr>
            </a:pPr>
            <a:r>
              <a:t>Видов налогов</a:t>
            </a:r>
          </a:p>
          <a:p>
            <a:pPr>
              <a:spcBef>
                <a:spcPts val="400"/>
              </a:spcBef>
              <a:defRPr sz="2000" b="1">
                <a:solidFill>
                  <a:srgbClr val="003366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46920" y="109728"/>
            <a:ext cx="2148840" cy="347472"/>
          </a:xfrm>
          <a:prstGeom prst="rect">
            <a:avLst/>
          </a:prstGeom>
          <a:solidFill>
            <a:srgbClr val="EBEBEB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>
                <a:solidFill>
                  <a:srgbClr val="8C1E1E"/>
                </a:solidFill>
                <a:latin typeface="Arial"/>
              </a:defRPr>
            </a:pPr>
            <a:r>
              <a:t>ДЛЯ СЛУЖЕБНОГО ПОЛЬЗОВАНИЯ | AI DRAFT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0080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808080"/>
                </a:solidFill>
                <a:latin typeface="Arial"/>
              </a:defRPr>
            </a:pPr>
            <a:r>
              <a:t>Источник: Синтетические данные (демо), Республика Беларусь | prototip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6873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  <a:latin typeface="Arial"/>
              </a:defRPr>
            </a:pPr>
            <a:r>
              <a:t>Темы и повестка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14400"/>
            <a:ext cx="113687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t>Ключевые темы:</a:t>
            </a:r>
          </a:p>
          <a:p>
            <a:pPr>
              <a:defRPr sz="1300"/>
            </a:pPr>
            <a:r>
              <a:t>• Абсолютная задолженность по областям</a:t>
            </a:r>
          </a:p>
          <a:p>
            <a:pPr>
              <a:defRPr sz="1300"/>
            </a:pPr>
            <a:r>
              <a:t>• Штрафы и пени как индикатор риска</a:t>
            </a:r>
          </a:p>
          <a:p>
            <a:pPr>
              <a:defRPr sz="1300"/>
            </a:pPr>
            <a:r>
              <a:t>• Сравнение лидеров и аутсайдеров</a:t>
            </a:r>
          </a:p>
          <a:p>
            <a:pPr>
              <a:spcBef>
                <a:spcPts val="1200"/>
              </a:spcBef>
              <a:defRPr sz="1400" b="1"/>
            </a:pPr>
            <a:r>
              <a:t>Рассматриваемые вопросы:</a:t>
            </a:r>
          </a:p>
          <a:p>
            <a:pPr>
              <a:defRPr sz="1200"/>
            </a:pPr>
            <a:r>
              <a:t>• Какая задолженность по регионам — рейтинг</a:t>
            </a:r>
          </a:p>
          <a:p>
            <a:pPr>
              <a:defRPr sz="1200"/>
            </a:pPr>
            <a:r>
              <a:t>• Сравни задолженность Гомельской и Минской областей</a:t>
            </a:r>
          </a:p>
        </p:txBody>
      </p:sp>
      <p:sp>
        <p:nvSpPr>
          <p:cNvPr id="4" name="Rectangle 3"/>
          <p:cNvSpPr/>
          <p:nvPr/>
        </p:nvSpPr>
        <p:spPr>
          <a:xfrm>
            <a:off x="9646920" y="109728"/>
            <a:ext cx="2148840" cy="347472"/>
          </a:xfrm>
          <a:prstGeom prst="rect">
            <a:avLst/>
          </a:prstGeom>
          <a:solidFill>
            <a:srgbClr val="EBEBEB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>
                <a:solidFill>
                  <a:srgbClr val="8C1E1E"/>
                </a:solidFill>
                <a:latin typeface="Arial"/>
              </a:defRPr>
            </a:pPr>
            <a:r>
              <a:t>ДЛЯ СЛУЖЕБНОГО ПОЛЬЗОВАНИЯ | AI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808080"/>
                </a:solidFill>
                <a:latin typeface="Arial"/>
              </a:defRPr>
            </a:pPr>
            <a:r>
              <a:t>Источник: Синтетические данные (демо), Республика Беларусь | prototip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6873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  <a:latin typeface="Arial"/>
              </a:defRPr>
            </a:pPr>
            <a:r>
              <a:t>Гомельская область — лидер по задолженности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58368"/>
            <a:ext cx="113687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05050"/>
                </a:solidFill>
                <a:latin typeface="Arial"/>
              </a:defRPr>
            </a:pPr>
            <a:r>
              <a:t>Какая задолженность по регионам — рейтинг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68735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res_slide_2343b2b6dd_0_гомельская_область_лидер_по_задолженност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1560"/>
            <a:ext cx="5596128" cy="493776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190488" y="1051560"/>
          <a:ext cx="5596127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7870"/>
                <a:gridCol w="2518257"/>
              </a:tblGrid>
              <a:tr h="4343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Регион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Задолженность, Br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г. Минск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13,1 млрд Br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Минская область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5,5 млрд Br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Гродненская область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4,6 млрд Br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Брестская область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4,3 млрд Br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Гомельская область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4,3 млрд Br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190488" y="3840480"/>
            <a:ext cx="559612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Ключевой вывод</a:t>
            </a:r>
          </a:p>
          <a:p>
            <a:pPr>
              <a:defRPr sz="1100">
                <a:solidFill>
                  <a:srgbClr val="3C3C3C"/>
                </a:solidFill>
              </a:defRPr>
            </a:pPr>
            <a:r>
              <a:t>Гомельская область — лидер по задолженности</a:t>
            </a:r>
          </a:p>
        </p:txBody>
      </p:sp>
      <p:sp>
        <p:nvSpPr>
          <p:cNvPr id="8" name="Rectangle 7"/>
          <p:cNvSpPr/>
          <p:nvPr/>
        </p:nvSpPr>
        <p:spPr>
          <a:xfrm>
            <a:off x="9646920" y="109728"/>
            <a:ext cx="2148840" cy="347472"/>
          </a:xfrm>
          <a:prstGeom prst="rect">
            <a:avLst/>
          </a:prstGeom>
          <a:solidFill>
            <a:srgbClr val="EBEBEB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>
                <a:solidFill>
                  <a:srgbClr val="8C1E1E"/>
                </a:solidFill>
                <a:latin typeface="Arial"/>
              </a:defRPr>
            </a:pPr>
            <a:r>
              <a:t>ДЛЯ СЛУЖЕБНОГО ПОЛЬЗОВАНИЯ | AI DRAFT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808080"/>
                </a:solidFill>
                <a:latin typeface="Arial"/>
              </a:defRPr>
            </a:pPr>
            <a:r>
              <a:t>Источник: Синтетические данные (демо), Республика Беларусь | prototip | слайд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6873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  <a:latin typeface="Arial"/>
              </a:defRPr>
            </a:pPr>
            <a:r>
              <a:t>г. Минск — лидер по объёму начислений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58368"/>
            <a:ext cx="113687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05050"/>
                </a:solidFill>
                <a:latin typeface="Arial"/>
              </a:defRPr>
            </a:pPr>
            <a:r>
              <a:t>Сравни задолженность Гомельской и Минской областей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68735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res_slide_2343b2b6dd_1_г_минск_лидер_по_объ_му_начислений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1560"/>
            <a:ext cx="5596128" cy="493776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190488" y="1051560"/>
          <a:ext cx="5596127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7870"/>
                <a:gridCol w="2518257"/>
              </a:tblGrid>
              <a:tr h="4343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Регион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Начислено, Br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г. Минск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58,6 млрд Br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Минская область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25 млрд Br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Брестская область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21 млрд Br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Гомельская область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20,1 млрд Br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Гродненская область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t>19,7 млрд Br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190488" y="3840480"/>
            <a:ext cx="559612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Ключевой вывод</a:t>
            </a:r>
          </a:p>
          <a:p>
            <a:pPr>
              <a:defRPr sz="1100">
                <a:solidFill>
                  <a:srgbClr val="3C3C3C"/>
                </a:solidFill>
              </a:defRPr>
            </a:pPr>
            <a:r>
              <a:t>г. Минск — лидер по объёму начислений</a:t>
            </a:r>
          </a:p>
        </p:txBody>
      </p:sp>
      <p:sp>
        <p:nvSpPr>
          <p:cNvPr id="8" name="Rectangle 7"/>
          <p:cNvSpPr/>
          <p:nvPr/>
        </p:nvSpPr>
        <p:spPr>
          <a:xfrm>
            <a:off x="9646920" y="109728"/>
            <a:ext cx="2148840" cy="347472"/>
          </a:xfrm>
          <a:prstGeom prst="rect">
            <a:avLst/>
          </a:prstGeom>
          <a:solidFill>
            <a:srgbClr val="EBEBEB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>
                <a:solidFill>
                  <a:srgbClr val="8C1E1E"/>
                </a:solidFill>
                <a:latin typeface="Arial"/>
              </a:defRPr>
            </a:pPr>
            <a:r>
              <a:t>ДЛЯ СЛУЖЕБНОГО ПОЛЬЗОВАНИЯ | AI DRAFT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808080"/>
                </a:solidFill>
                <a:latin typeface="Arial"/>
              </a:defRPr>
            </a:pPr>
            <a:r>
              <a:t>Источник: Синтетические данные (демо), Республика Беларусь | prototip | слайд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6873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  <a:latin typeface="Arial"/>
              </a:defRPr>
            </a:pPr>
            <a:r>
              <a:t>Ключевые выводы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14400"/>
            <a:ext cx="113687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latin typeface="Arial"/>
              </a:defRPr>
            </a:pPr>
            <a:r>
              <a:t>• Гомельская область лидирует по задолженности.</a:t>
            </a:r>
          </a:p>
          <a:p>
            <a:pPr>
              <a:spcBef>
                <a:spcPts val="600"/>
              </a:spcBef>
              <a:defRPr sz="1400">
                <a:latin typeface="Arial"/>
              </a:defRPr>
            </a:pPr>
            <a:r>
              <a:t>• Штрафы коррелируют с уровнем долга.</a:t>
            </a:r>
          </a:p>
          <a:p>
            <a:pPr>
              <a:spcBef>
                <a:spcPts val="600"/>
              </a:spcBef>
              <a:defRPr sz="1400">
                <a:latin typeface="Arial"/>
              </a:defRPr>
            </a:pPr>
            <a:r>
              <a:t>• г. Минск — относительно низкая задолженность на душу.</a:t>
            </a:r>
          </a:p>
          <a:p>
            <a:pPr>
              <a:spcBef>
                <a:spcPts val="600"/>
              </a:spcBef>
              <a:defRPr sz="1400">
                <a:latin typeface="Arial"/>
              </a:defRPr>
            </a:pPr>
            <a:r>
              <a:t>• Требуется точечный контроль восточных регионов.</a:t>
            </a:r>
          </a:p>
        </p:txBody>
      </p:sp>
      <p:sp>
        <p:nvSpPr>
          <p:cNvPr id="4" name="Rectangle 3"/>
          <p:cNvSpPr/>
          <p:nvPr/>
        </p:nvSpPr>
        <p:spPr>
          <a:xfrm>
            <a:off x="9646920" y="109728"/>
            <a:ext cx="2148840" cy="347472"/>
          </a:xfrm>
          <a:prstGeom prst="rect">
            <a:avLst/>
          </a:prstGeom>
          <a:solidFill>
            <a:srgbClr val="EBEBEB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>
                <a:solidFill>
                  <a:srgbClr val="8C1E1E"/>
                </a:solidFill>
                <a:latin typeface="Arial"/>
              </a:defRPr>
            </a:pPr>
            <a:r>
              <a:t>ДЛЯ СЛУЖЕБНОГО ПОЛЬЗОВАНИЯ | AI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808080"/>
                </a:solidFill>
                <a:latin typeface="Arial"/>
              </a:defRPr>
            </a:pPr>
            <a:r>
              <a:t>Источник: Синтетические данные (демо), Республика Беларусь | prototip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873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366"/>
                </a:solidFill>
                <a:latin typeface="Arial"/>
              </a:defRPr>
            </a:pPr>
            <a:r>
              <a:t>Рекомендации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777240"/>
            <a:ext cx="1136873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68735" cy="1005840"/>
          </a:xfrm>
          <a:prstGeom prst="rect">
            <a:avLst/>
          </a:prstGeom>
          <a:solidFill>
            <a:srgbClr val="F0F5FA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10029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05050"/>
                </a:solidFill>
              </a:defRPr>
            </a:pPr>
            <a:r>
              <a:t>1. Внедрить ежемесячный рейтинг задолженности по областям.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2148840"/>
            <a:ext cx="11368735" cy="1005840"/>
          </a:xfrm>
          <a:prstGeom prst="rect">
            <a:avLst/>
          </a:prstGeom>
          <a:solidFill>
            <a:srgbClr val="F0F5FA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286000"/>
            <a:ext cx="110029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05050"/>
                </a:solidFill>
              </a:defRPr>
            </a:pPr>
            <a:r>
              <a:t>2. Выделить пилотный регион для углублённого аудита.</a:t>
            </a:r>
          </a:p>
        </p:txBody>
      </p:sp>
      <p:sp>
        <p:nvSpPr>
          <p:cNvPr id="8" name="Rectangle 7"/>
          <p:cNvSpPr/>
          <p:nvPr/>
        </p:nvSpPr>
        <p:spPr>
          <a:xfrm>
            <a:off x="9646920" y="109728"/>
            <a:ext cx="2148840" cy="347472"/>
          </a:xfrm>
          <a:prstGeom prst="rect">
            <a:avLst/>
          </a:prstGeom>
          <a:solidFill>
            <a:srgbClr val="EBEBEB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>
                <a:solidFill>
                  <a:srgbClr val="8C1E1E"/>
                </a:solidFill>
                <a:latin typeface="Arial"/>
              </a:defRPr>
            </a:pPr>
            <a:r>
              <a:t>ДЛЯ СЛУЖЕБНОГО ПОЛЬЗОВАНИЯ | AI DRAFT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808080"/>
                </a:solidFill>
                <a:latin typeface="Arial"/>
              </a:defRPr>
            </a:pPr>
            <a:r>
              <a:t>Источник: Синтетические данные (демо), Республика Беларусь | prototip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