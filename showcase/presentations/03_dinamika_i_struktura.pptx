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320040" cy="41148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0"/>
            <a:ext cx="228600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BI-аналитика налогов РБ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505050"/>
                </a:solidFill>
                <a:latin typeface="Arial"/>
              </a:defRPr>
            </a:pPr>
            <a:r>
              <a:t>Синтетические данные (демо), Республика Беларусь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57784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07.06.2026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  <a:latin typeface="Arial"/>
              </a:defRPr>
            </a:pPr>
            <a:r>
              <a:t>Обзор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1136873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0"/>
            <a:ext cx="113687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05050"/>
                </a:solidFill>
                <a:latin typeface="Arial"/>
              </a:defRPr>
            </a:pPr>
            <a:r>
              <a:t>Временной анализ налоговых показателей за 2024 год: тренды, сезонность, накопительная динамика штрафов и водопад формирования задолженности.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3200400"/>
            <a:ext cx="2739313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3310128"/>
            <a:ext cx="2519857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Arial"/>
              </a:defRPr>
            </a:pPr>
            <a:r>
              <a:t>Суммарные начисления</a:t>
            </a:r>
          </a:p>
          <a:p>
            <a:pPr>
              <a:spcBef>
                <a:spcPts val="400"/>
              </a:spcBef>
              <a:defRPr sz="2000" b="1">
                <a:solidFill>
                  <a:srgbClr val="003366"/>
                </a:solidFill>
                <a:latin typeface="Arial"/>
              </a:defRPr>
            </a:pPr>
            <a:r>
              <a:t>180,9 млрд Br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87953" y="3200400"/>
            <a:ext cx="2739313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7681" y="3310128"/>
            <a:ext cx="2519857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Arial"/>
              </a:defRPr>
            </a:pPr>
            <a:r>
              <a:t>Общая задолженность</a:t>
            </a:r>
          </a:p>
          <a:p>
            <a:pPr>
              <a:spcBef>
                <a:spcPts val="400"/>
              </a:spcBef>
              <a:defRPr sz="2000" b="1">
                <a:solidFill>
                  <a:srgbClr val="003366"/>
                </a:solidFill>
                <a:latin typeface="Arial"/>
              </a:defRPr>
            </a:pPr>
            <a:r>
              <a:t>39,9 млрд Br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4427" y="3200400"/>
            <a:ext cx="2739313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4155" y="3310128"/>
            <a:ext cx="2519857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Arial"/>
              </a:defRPr>
            </a:pPr>
            <a:r>
              <a:t>Регионов в выборке</a:t>
            </a:r>
          </a:p>
          <a:p>
            <a:pPr>
              <a:spcBef>
                <a:spcPts val="400"/>
              </a:spcBef>
              <a:defRPr sz="2000" b="1">
                <a:solidFill>
                  <a:srgbClr val="003366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40901" y="3200400"/>
            <a:ext cx="2739313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50629" y="3310128"/>
            <a:ext cx="2519857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Arial"/>
              </a:defRPr>
            </a:pPr>
            <a:r>
              <a:t>Видов налогов</a:t>
            </a:r>
          </a:p>
          <a:p>
            <a:pPr>
              <a:spcBef>
                <a:spcPts val="400"/>
              </a:spcBef>
              <a:defRPr sz="2000" b="1">
                <a:solidFill>
                  <a:srgbClr val="003366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Темы и повестка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13687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Ключевые темы:</a:t>
            </a:r>
          </a:p>
          <a:p>
            <a:pPr>
              <a:defRPr sz="1300"/>
            </a:pPr>
            <a:r>
              <a:t>• Месячная динамика начислений</a:t>
            </a:r>
          </a:p>
          <a:p>
            <a:pPr>
              <a:defRPr sz="1300"/>
            </a:pPr>
            <a:r>
              <a:t>• Сезонные пики и спады</a:t>
            </a:r>
          </a:p>
          <a:p>
            <a:pPr>
              <a:defRPr sz="1300"/>
            </a:pPr>
            <a:r>
              <a:t>• Структурные изменения задолженности</a:t>
            </a:r>
          </a:p>
          <a:p>
            <a:pPr>
              <a:spcBef>
                <a:spcPts val="1200"/>
              </a:spcBef>
              <a:defRPr sz="1400" b="1"/>
            </a:pPr>
            <a:r>
              <a:t>Рассматриваемые вопросы:</a:t>
            </a:r>
          </a:p>
          <a:p>
            <a:pPr>
              <a:defRPr sz="1200"/>
            </a:pPr>
            <a:r>
              <a:t>• Динамика начислений по месяцам по регионам</a:t>
            </a:r>
          </a:p>
          <a:p>
            <a:pPr>
              <a:defRPr sz="1200"/>
            </a:pPr>
            <a:r>
              <a:t>• Накопительная динамика штрафов по регионам</a:t>
            </a:r>
          </a:p>
          <a:p>
            <a:pPr>
              <a:defRPr sz="1200"/>
            </a:pPr>
            <a:r>
              <a:t>• Водопад изменений: начисления, уплата, остаток долга</a:t>
            </a:r>
          </a:p>
        </p:txBody>
      </p:sp>
      <p:sp>
        <p:nvSpPr>
          <p:cNvPr id="4" name="Rectangle 3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Задолженность растёт к концу 2024 года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  <a:latin typeface="Arial"/>
              </a:defRPr>
            </a:pPr>
            <a:r>
              <a:t>Динамика начислений по месяцам по регионам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68735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es_slide_2516e0dfdd_0_задолженность_раст_т_к_концу_2024_год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68735" cy="3063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4187952"/>
            <a:ext cx="11368735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4343400"/>
            <a:ext cx="11368735" cy="1600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357621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• Общий восходящий тренд по всем регионам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7738" y="4480560"/>
            <a:ext cx="357621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• Гомельская и Могилёвская области — выше среднего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6836" y="4480560"/>
            <a:ext cx="357621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• г. Минск демонстрирует умеренную динамику</a:t>
            </a:r>
          </a:p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• Задолженность растёт к концу 2024 года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 | слайд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Накопление штрафов ускоряется во II полугодии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  <a:latin typeface="Arial"/>
              </a:defRPr>
            </a:pPr>
            <a:r>
              <a:t>Накопительная динамика штрафов по регионам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68735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es_slide_2516e0dfdd_1_накопление_штрафов_ускоряется_во_ii_полу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68735" cy="3063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4187952"/>
            <a:ext cx="11368735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4343400"/>
            <a:ext cx="11368735" cy="1600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357621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• Штрафы растут быстрее в восточных областях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7738" y="4480560"/>
            <a:ext cx="357621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• Пик приходится на осенние месяцы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6836" y="4480560"/>
            <a:ext cx="357621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• Корреляция с уровнем задолженности</a:t>
            </a:r>
          </a:p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• Накопление штрафов ускоряется во II полугодии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 | слайд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Начисления → уплата → штрафы → остаток долга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  <a:latin typeface="Arial"/>
              </a:defRPr>
            </a:pPr>
            <a:r>
              <a:t>Водопад изменений: начисления, уплата, остаток долга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68735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es_slide_2516e0dfdd_2_начисления_уплата_штрафы_остаток_долг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68735" cy="3063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4187952"/>
            <a:ext cx="11368735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4343400"/>
            <a:ext cx="11368735" cy="1600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357621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• Уплата существенно снижает начисленный объём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7738" y="4480560"/>
            <a:ext cx="357621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• Штрафы добавляют вторичную нагрузку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6836" y="4480560"/>
            <a:ext cx="357621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• Итоговый остаток — зона контроля</a:t>
            </a:r>
          </a:p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• Начисления → уплата → штрафы → остаток долга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 | слайд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Ключевые 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13687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latin typeface="Arial"/>
              </a:defRPr>
            </a:pPr>
            <a:r>
              <a:t>• Сезонный рост начислений в Q4.</a:t>
            </a:r>
          </a:p>
          <a:p>
            <a:pPr>
              <a:spcBef>
                <a:spcPts val="600"/>
              </a:spcBef>
              <a:defRPr sz="1400">
                <a:latin typeface="Arial"/>
              </a:defRPr>
            </a:pPr>
            <a:r>
              <a:t>• Штрафы нарастают во втором полугодии.</a:t>
            </a:r>
          </a:p>
          <a:p>
            <a:pPr>
              <a:spcBef>
                <a:spcPts val="600"/>
              </a:spcBef>
              <a:defRPr sz="1400">
                <a:latin typeface="Arial"/>
              </a:defRPr>
            </a:pPr>
            <a:r>
              <a:t>• Уплата существенно снижает начисленный объём.</a:t>
            </a:r>
          </a:p>
          <a:p>
            <a:pPr>
              <a:spcBef>
                <a:spcPts val="600"/>
              </a:spcBef>
              <a:defRPr sz="1400">
                <a:latin typeface="Arial"/>
              </a:defRPr>
            </a:pPr>
            <a:r>
              <a:t>• Тренд задолженности — умеренно положительный.</a:t>
            </a:r>
          </a:p>
        </p:txBody>
      </p:sp>
      <p:sp>
        <p:nvSpPr>
          <p:cNvPr id="4" name="Rectangle 3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  <a:latin typeface="Arial"/>
              </a:defRPr>
            </a:pPr>
            <a:r>
              <a:t>Рекомендации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1136873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68735" cy="1005840"/>
          </a:xfrm>
          <a:prstGeom prst="rect">
            <a:avLst/>
          </a:prstGeom>
          <a:solidFill>
            <a:srgbClr val="F0F5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10029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05050"/>
                </a:solidFill>
              </a:defRPr>
            </a:pPr>
            <a:r>
              <a:t>1. Скорректировать прогнозы с учётом сезонности Q4.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148840"/>
            <a:ext cx="11368735" cy="1005840"/>
          </a:xfrm>
          <a:prstGeom prst="rect">
            <a:avLst/>
          </a:prstGeom>
          <a:solidFill>
            <a:srgbClr val="F0F5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110029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05050"/>
                </a:solidFill>
              </a:defRPr>
            </a:pPr>
            <a:r>
              <a:t>2. Усилить контроль уплат в преддверии отчётных периодов.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