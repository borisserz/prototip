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320040" cy="411480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011680"/>
            <a:ext cx="228600" cy="2926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t>BI-аналитика налогов РБ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505050"/>
                </a:solidFill>
                <a:latin typeface="Arial"/>
              </a:defRPr>
            </a:pPr>
            <a:r>
              <a:t>Синтетические данные (демо), Республика Беларусь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57784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06.06.2026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366"/>
                </a:solidFill>
                <a:latin typeface="Arial"/>
              </a:defRPr>
            </a:pPr>
            <a:r>
              <a:t>Обзор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777240"/>
            <a:ext cx="1136873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05840"/>
            <a:ext cx="113687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05050"/>
                </a:solidFill>
                <a:latin typeface="Arial"/>
              </a:defRPr>
            </a:pPr>
            <a:r>
              <a:t>Комплексный аналитический отчёт: иерархия, матрицы, корреляции и сравнительный анализ по всем ключевым измерениям демо-датасета налогов РБ.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3200400"/>
            <a:ext cx="2739313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3310128"/>
            <a:ext cx="2519857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Суммарные начисления</a:t>
            </a:r>
          </a:p>
          <a:p>
            <a:pPr>
              <a:spcBef>
                <a:spcPts val="400"/>
              </a:spcBef>
              <a:defRPr sz="2000" b="1">
                <a:solidFill>
                  <a:srgbClr val="003366"/>
                </a:solidFill>
                <a:latin typeface="Arial"/>
              </a:defRPr>
            </a:pPr>
            <a:r>
              <a:t>180,9 млрд Br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87953" y="3200400"/>
            <a:ext cx="2739313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97681" y="3310128"/>
            <a:ext cx="2519857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Общая задолженность</a:t>
            </a:r>
          </a:p>
          <a:p>
            <a:pPr>
              <a:spcBef>
                <a:spcPts val="400"/>
              </a:spcBef>
              <a:defRPr sz="2000" b="1">
                <a:solidFill>
                  <a:srgbClr val="003366"/>
                </a:solidFill>
                <a:latin typeface="Arial"/>
              </a:defRPr>
            </a:pPr>
            <a:r>
              <a:t>39,9 млрд Br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4427" y="3200400"/>
            <a:ext cx="2739313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4155" y="3310128"/>
            <a:ext cx="2519857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Регионов в выборке</a:t>
            </a:r>
          </a:p>
          <a:p>
            <a:pPr>
              <a:spcBef>
                <a:spcPts val="400"/>
              </a:spcBef>
              <a:defRPr sz="2000" b="1">
                <a:solidFill>
                  <a:srgbClr val="003366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40901" y="3200400"/>
            <a:ext cx="2739313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0629" y="3310128"/>
            <a:ext cx="2519857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Видов налогов</a:t>
            </a:r>
          </a:p>
          <a:p>
            <a:pPr>
              <a:spcBef>
                <a:spcPts val="400"/>
              </a:spcBef>
              <a:defRPr sz="2000" b="1">
                <a:solidFill>
                  <a:srgbClr val="003366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Темы и повестка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13687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Ключевые темы:</a:t>
            </a:r>
          </a:p>
          <a:p>
            <a:pPr>
              <a:defRPr sz="1300"/>
            </a:pPr>
            <a:r>
              <a:t>• Иерархическая структура начислений</a:t>
            </a:r>
          </a:p>
          <a:p>
            <a:pPr>
              <a:defRPr sz="1300"/>
            </a:pPr>
            <a:r>
              <a:t>• Матричный анализ НДС</a:t>
            </a:r>
          </a:p>
          <a:p>
            <a:pPr>
              <a:defRPr sz="1300"/>
            </a:pPr>
            <a:r>
              <a:t>• Корреляции и сравнения</a:t>
            </a:r>
          </a:p>
          <a:p>
            <a:pPr>
              <a:defRPr sz="1300"/>
            </a:pPr>
            <a:r>
              <a:t>• Мультиагентная аналитика</a:t>
            </a:r>
          </a:p>
          <a:p>
            <a:pPr>
              <a:spcBef>
                <a:spcPts val="1200"/>
              </a:spcBef>
              <a:defRPr sz="1400" b="1"/>
            </a:pPr>
            <a:r>
              <a:t>Рассматриваемые вопросы:</a:t>
            </a:r>
          </a:p>
          <a:p>
            <a:pPr>
              <a:defRPr sz="1200"/>
            </a:pPr>
            <a:r>
              <a:t>• Структура начислений по регионам и видам налогов</a:t>
            </a:r>
          </a:p>
          <a:p>
            <a:pPr>
              <a:defRPr sz="1200"/>
            </a:pPr>
            <a:r>
              <a:t>• Тепловая карта начислений НДС по регионам и месяцам</a:t>
            </a:r>
          </a:p>
          <a:p>
            <a:pPr>
              <a:defRPr sz="1200"/>
            </a:pPr>
            <a:r>
              <a:t>• Корреляция начислений и задолженности по регионам</a:t>
            </a:r>
          </a:p>
          <a:p>
            <a:pPr>
              <a:defRPr sz="1200"/>
            </a:pPr>
            <a:r>
              <a:t>• Начисления по налогам и регионам — группированная диаграмма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г. Минск доминирует в общем объёме начислений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Структура начислений по регионам и видам налогов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32688"/>
            <a:ext cx="11368735" cy="2743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s_slide_65e4ae0c21_0_г_минск_доминирует_в_общем_объ_ме_начис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6729984" cy="4937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24344" y="1051560"/>
            <a:ext cx="4453128" cy="49377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61504" y="1188719"/>
            <a:ext cx="4178808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3366"/>
                </a:solidFill>
                <a:latin typeface="Arial"/>
              </a:defRPr>
            </a:pPr>
            <a:r>
              <a:t>Инсайты</a:t>
            </a:r>
          </a:p>
          <a:p>
            <a:pPr>
              <a:spcBef>
                <a:spcPts val="400"/>
              </a:spcBef>
              <a:defRPr sz="1400">
                <a:solidFill>
                  <a:srgbClr val="3C3C3C"/>
                </a:solidFill>
                <a:latin typeface="Arial"/>
              </a:defRPr>
            </a:pPr>
            <a:r>
              <a:t>• г. Минск — крупнейший сегмент</a:t>
            </a:r>
          </a:p>
          <a:p>
            <a:pPr>
              <a:spcBef>
                <a:spcPts val="400"/>
              </a:spcBef>
              <a:defRPr sz="1400">
                <a:solidFill>
                  <a:srgbClr val="3C3C3C"/>
                </a:solidFill>
                <a:latin typeface="Arial"/>
              </a:defRPr>
            </a:pPr>
            <a:r>
              <a:t>• НДС — доминирующий вид внутри регионов</a:t>
            </a:r>
          </a:p>
          <a:p>
            <a:pPr>
              <a:spcBef>
                <a:spcPts val="400"/>
              </a:spcBef>
              <a:defRPr sz="1400">
                <a:solidFill>
                  <a:srgbClr val="3C3C3C"/>
                </a:solidFill>
                <a:latin typeface="Arial"/>
              </a:defRPr>
            </a:pPr>
            <a:r>
              <a:t>• Структура неоднородна по областям</a:t>
            </a:r>
          </a:p>
          <a:p>
            <a:pPr>
              <a:spcBef>
                <a:spcPts val="800"/>
              </a:spcBef>
              <a:defRPr sz="1300" b="1">
                <a:solidFill>
                  <a:srgbClr val="003366"/>
                </a:solidFill>
                <a:latin typeface="Arial"/>
              </a:defRPr>
            </a:pPr>
            <a:r>
              <a:t>Ключевой вывод</a:t>
            </a:r>
          </a:p>
          <a:p>
            <a:pPr>
              <a:defRPr sz="1300">
                <a:solidFill>
                  <a:srgbClr val="3C3C3C"/>
                </a:solidFill>
                <a:latin typeface="Arial"/>
              </a:defRPr>
            </a:pPr>
            <a:r>
              <a:t>г. Минск доминирует в общем объёме начислений</a:t>
            </a:r>
          </a:p>
          <a:p>
            <a:pPr>
              <a:defRPr sz="800">
                <a:solidFill>
                  <a:srgbClr val="808080"/>
                </a:solidFill>
              </a:defRPr>
            </a:pPr>
            <a:r>
              <a:t>Диаграмма: древовидная (treemap)</a:t>
            </a:r>
          </a:p>
        </p:txBody>
      </p:sp>
      <p:sp>
        <p:nvSpPr>
          <p:cNvPr id="8" name="Rectangle 7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 | слайд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Пик начислений НДС — в конце года в г. Минске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Тепловая карта начислений НДС по регионам и месяцам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32688"/>
            <a:ext cx="11368735" cy="2743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s_slide_65e4ae0c21_1_пик_начислений_ндс_в_конце_года_в_г_мин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11368735" cy="3063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4187952"/>
            <a:ext cx="11368735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4343400"/>
            <a:ext cx="11368735" cy="1600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357621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Концентрация в г. Минск и Минской области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7738" y="4480560"/>
            <a:ext cx="357621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Сезонность выражена в Q4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6836" y="4480560"/>
            <a:ext cx="357621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Слабые значения в отдельных областях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Пик начислений НДС — в конце года в г. Минске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 | слайд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Высокие начисления не всегда означают высокий долг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Корреляция начислений и задолженности по регионам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32688"/>
            <a:ext cx="11368735" cy="2743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s_slide_65e4ae0c21_2_высокие_начисления_не_всегда_означают_в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11368735" cy="3063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4187952"/>
            <a:ext cx="11368735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4343400"/>
            <a:ext cx="11368735" cy="1600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357621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Положительная корреляция с разбросом по регионам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7738" y="4480560"/>
            <a:ext cx="357621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Выбросы требуют отдельного анализа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6836" y="4480560"/>
            <a:ext cx="357621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г. Минск — наибольшая плотность наблюдений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Высокие начисления не всегда означают высокий долг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 | слайд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НДС и подоходный налог доминируют в г. Минске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Начисления по налогам и регионам — группированная диаграмма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32688"/>
            <a:ext cx="11368735" cy="2743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s_slide_65e4ae0c21_3_ндс_и_подоходный_налог_доминируют_в_г_м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11368735" cy="3063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4187952"/>
            <a:ext cx="11368735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4343400"/>
            <a:ext cx="11368735" cy="1600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357621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НДС — крупнейший вид налога в большинстве регионов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7738" y="4480560"/>
            <a:ext cx="357621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г. Минск опережает области по всем основным видам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6836" y="4480560"/>
            <a:ext cx="357621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Акцизы — наименьшая доля в структуре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НДС и подоходный налог доминируют в г. Минске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 | слайд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Ключевые 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13687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latin typeface="Arial"/>
              </a:defRPr>
            </a:pPr>
            <a:r>
              <a:t>• г. Минск доминирует в иерархии начислений.</a:t>
            </a:r>
          </a:p>
          <a:p>
            <a:pPr>
              <a:spcBef>
                <a:spcPts val="600"/>
              </a:spcBef>
              <a:defRPr sz="1400">
                <a:latin typeface="Arial"/>
              </a:defRPr>
            </a:pPr>
            <a:r>
              <a:t>• НДС концентрируется в столичном регионе.</a:t>
            </a:r>
          </a:p>
          <a:p>
            <a:pPr>
              <a:spcBef>
                <a:spcPts val="600"/>
              </a:spcBef>
              <a:defRPr sz="1400">
                <a:latin typeface="Arial"/>
              </a:defRPr>
            </a:pPr>
            <a:r>
              <a:t>• Корреляция начислений и долга не линейна.</a:t>
            </a:r>
          </a:p>
          <a:p>
            <a:pPr>
              <a:spcBef>
                <a:spcPts val="600"/>
              </a:spcBef>
              <a:defRPr sz="1400">
                <a:latin typeface="Arial"/>
              </a:defRPr>
            </a:pPr>
            <a:r>
              <a:t>• Группированный анализ выявляет региональные различия.</a:t>
            </a:r>
          </a:p>
          <a:p>
            <a:pPr>
              <a:spcBef>
                <a:spcPts val="600"/>
              </a:spcBef>
              <a:defRPr sz="1400">
                <a:latin typeface="Arial"/>
              </a:defRPr>
            </a:pPr>
            <a:r>
              <a:t>• Система поддерживает 12 типов визуализации.</a:t>
            </a:r>
          </a:p>
        </p:txBody>
      </p:sp>
      <p:sp>
        <p:nvSpPr>
          <p:cNvPr id="4" name="Rectangle 3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366"/>
                </a:solidFill>
                <a:latin typeface="Arial"/>
              </a:defRPr>
            </a:pPr>
            <a:r>
              <a:t>Рекомендации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777240"/>
            <a:ext cx="1136873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05840"/>
            <a:ext cx="11368735" cy="1005840"/>
          </a:xfrm>
          <a:prstGeom prst="rect">
            <a:avLst/>
          </a:prstGeom>
          <a:solidFill>
            <a:srgbClr val="F0F5FA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10029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05050"/>
                </a:solidFill>
              </a:defRPr>
            </a:pPr>
            <a:r>
              <a:t>1. Расширить дашборд тепловыми картами по всем видам налогов.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148840"/>
            <a:ext cx="11368735" cy="1005840"/>
          </a:xfrm>
          <a:prstGeom prst="rect">
            <a:avLst/>
          </a:prstGeom>
          <a:solidFill>
            <a:srgbClr val="F0F5FA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110029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05050"/>
                </a:solidFill>
              </a:defRPr>
            </a:pPr>
            <a:r>
              <a:t>2. Внедрить регулярные scatter-анализы для выявления аномалий.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291840"/>
            <a:ext cx="11368735" cy="1005840"/>
          </a:xfrm>
          <a:prstGeom prst="rect">
            <a:avLst/>
          </a:prstGeom>
          <a:solidFill>
            <a:srgbClr val="F0F5FA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429000"/>
            <a:ext cx="110029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05050"/>
                </a:solidFill>
              </a:defRPr>
            </a:pPr>
            <a:r>
              <a:t>3. Использовать treemap для презентаций структуры руководству.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366"/>
                </a:solidFill>
                <a:latin typeface="Arial"/>
              </a:defRPr>
            </a:pPr>
            <a:r>
              <a:t>Приложение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68735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Дополнительные материалы и диаграммы (см. основные слайды выше).</a:t>
            </a:r>
          </a:p>
        </p:txBody>
      </p:sp>
      <p:sp>
        <p:nvSpPr>
          <p:cNvPr id="4" name="Rectangle 3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 | слайд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